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840E4F-AFC4-49B9-B33F-5D147A63F135}" v="1" dt="2026-09-25T17:58:05.5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shmiroy2004@outlook.com" userId="9b262ceecccdb4c8" providerId="LiveId" clId="{9DE611EF-83A3-4266-B8CA-B23D7C9EA60E}"/>
    <pc:docChg chg="custSel delSld modSld">
      <pc:chgData name="rashmiroy2004@outlook.com" userId="9b262ceecccdb4c8" providerId="LiveId" clId="{9DE611EF-83A3-4266-B8CA-B23D7C9EA60E}" dt="2026-09-25T18:02:46.179" v="237" actId="1076"/>
      <pc:docMkLst>
        <pc:docMk/>
      </pc:docMkLst>
      <pc:sldChg chg="addSp delSp modSp mod">
        <pc:chgData name="rashmiroy2004@outlook.com" userId="9b262ceecccdb4c8" providerId="LiveId" clId="{9DE611EF-83A3-4266-B8CA-B23D7C9EA60E}" dt="2026-09-25T18:01:45.525" v="229" actId="207"/>
        <pc:sldMkLst>
          <pc:docMk/>
          <pc:sldMk cId="0" sldId="256"/>
        </pc:sldMkLst>
        <pc:spChg chg="mod">
          <ac:chgData name="rashmiroy2004@outlook.com" userId="9b262ceecccdb4c8" providerId="LiveId" clId="{9DE611EF-83A3-4266-B8CA-B23D7C9EA60E}" dt="2026-09-25T18:00:14.127" v="162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rashmiroy2004@outlook.com" userId="9b262ceecccdb4c8" providerId="LiveId" clId="{9DE611EF-83A3-4266-B8CA-B23D7C9EA60E}" dt="2026-09-25T18:00:04.036" v="161" actId="107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rashmiroy2004@outlook.com" userId="9b262ceecccdb4c8" providerId="LiveId" clId="{9DE611EF-83A3-4266-B8CA-B23D7C9EA60E}" dt="2026-09-25T17:56:52.090" v="34" actId="20577"/>
          <ac:spMkLst>
            <pc:docMk/>
            <pc:sldMk cId="0" sldId="256"/>
            <ac:spMk id="13" creationId="{00000000-0000-0000-0000-000000000000}"/>
          </ac:spMkLst>
        </pc:spChg>
        <pc:spChg chg="mod">
          <ac:chgData name="rashmiroy2004@outlook.com" userId="9b262ceecccdb4c8" providerId="LiveId" clId="{9DE611EF-83A3-4266-B8CA-B23D7C9EA60E}" dt="2026-09-25T17:57:01.819" v="50" actId="20577"/>
          <ac:spMkLst>
            <pc:docMk/>
            <pc:sldMk cId="0" sldId="256"/>
            <ac:spMk id="15" creationId="{00000000-0000-0000-0000-000000000000}"/>
          </ac:spMkLst>
        </pc:spChg>
        <pc:spChg chg="mod">
          <ac:chgData name="rashmiroy2004@outlook.com" userId="9b262ceecccdb4c8" providerId="LiveId" clId="{9DE611EF-83A3-4266-B8CA-B23D7C9EA60E}" dt="2026-09-25T17:57:15.514" v="71" actId="20577"/>
          <ac:spMkLst>
            <pc:docMk/>
            <pc:sldMk cId="0" sldId="256"/>
            <ac:spMk id="18" creationId="{00000000-0000-0000-0000-000000000000}"/>
          </ac:spMkLst>
        </pc:spChg>
        <pc:spChg chg="mod">
          <ac:chgData name="rashmiroy2004@outlook.com" userId="9b262ceecccdb4c8" providerId="LiveId" clId="{9DE611EF-83A3-4266-B8CA-B23D7C9EA60E}" dt="2026-09-25T17:59:37.948" v="147" actId="1076"/>
          <ac:spMkLst>
            <pc:docMk/>
            <pc:sldMk cId="0" sldId="256"/>
            <ac:spMk id="19" creationId="{00000000-0000-0000-0000-000000000000}"/>
          </ac:spMkLst>
        </pc:spChg>
        <pc:spChg chg="mod">
          <ac:chgData name="rashmiroy2004@outlook.com" userId="9b262ceecccdb4c8" providerId="LiveId" clId="{9DE611EF-83A3-4266-B8CA-B23D7C9EA60E}" dt="2026-09-25T17:58:19.042" v="127" actId="1076"/>
          <ac:spMkLst>
            <pc:docMk/>
            <pc:sldMk cId="0" sldId="256"/>
            <ac:spMk id="21" creationId="{00000000-0000-0000-0000-000000000000}"/>
          </ac:spMkLst>
        </pc:spChg>
        <pc:spChg chg="mod">
          <ac:chgData name="rashmiroy2004@outlook.com" userId="9b262ceecccdb4c8" providerId="LiveId" clId="{9DE611EF-83A3-4266-B8CA-B23D7C9EA60E}" dt="2026-09-25T17:58:09.652" v="125" actId="1076"/>
          <ac:spMkLst>
            <pc:docMk/>
            <pc:sldMk cId="0" sldId="256"/>
            <ac:spMk id="22" creationId="{00000000-0000-0000-0000-000000000000}"/>
          </ac:spMkLst>
        </pc:spChg>
        <pc:spChg chg="mod">
          <ac:chgData name="rashmiroy2004@outlook.com" userId="9b262ceecccdb4c8" providerId="LiveId" clId="{9DE611EF-83A3-4266-B8CA-B23D7C9EA60E}" dt="2026-09-25T18:01:45.525" v="229" actId="207"/>
          <ac:spMkLst>
            <pc:docMk/>
            <pc:sldMk cId="0" sldId="256"/>
            <ac:spMk id="23" creationId="{00000000-0000-0000-0000-000000000000}"/>
          </ac:spMkLst>
        </pc:spChg>
        <pc:spChg chg="add mod">
          <ac:chgData name="rashmiroy2004@outlook.com" userId="9b262ceecccdb4c8" providerId="LiveId" clId="{9DE611EF-83A3-4266-B8CA-B23D7C9EA60E}" dt="2026-09-25T17:57:43.718" v="122" actId="1036"/>
          <ac:spMkLst>
            <pc:docMk/>
            <pc:sldMk cId="0" sldId="256"/>
            <ac:spMk id="25" creationId="{5167DDEF-D725-BD42-FBFC-0C19917B1FB6}"/>
          </ac:spMkLst>
        </pc:spChg>
        <pc:spChg chg="add del">
          <ac:chgData name="rashmiroy2004@outlook.com" userId="9b262ceecccdb4c8" providerId="LiveId" clId="{9DE611EF-83A3-4266-B8CA-B23D7C9EA60E}" dt="2026-09-25T17:58:13.154" v="126" actId="478"/>
          <ac:spMkLst>
            <pc:docMk/>
            <pc:sldMk cId="0" sldId="256"/>
            <ac:spMk id="27" creationId="{00248607-1F42-FECC-37EA-FA8EFCC98762}"/>
          </ac:spMkLst>
        </pc:spChg>
      </pc:sldChg>
      <pc:sldChg chg="modSp mod">
        <pc:chgData name="rashmiroy2004@outlook.com" userId="9b262ceecccdb4c8" providerId="LiveId" clId="{9DE611EF-83A3-4266-B8CA-B23D7C9EA60E}" dt="2026-09-25T18:02:46.179" v="237" actId="1076"/>
        <pc:sldMkLst>
          <pc:docMk/>
          <pc:sldMk cId="0" sldId="261"/>
        </pc:sldMkLst>
        <pc:spChg chg="mod">
          <ac:chgData name="rashmiroy2004@outlook.com" userId="9b262ceecccdb4c8" providerId="LiveId" clId="{9DE611EF-83A3-4266-B8CA-B23D7C9EA60E}" dt="2026-09-25T18:02:25.588" v="231" actId="107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rashmiroy2004@outlook.com" userId="9b262ceecccdb4c8" providerId="LiveId" clId="{9DE611EF-83A3-4266-B8CA-B23D7C9EA60E}" dt="2026-09-25T18:02:29.060" v="232" actId="1076"/>
          <ac:spMkLst>
            <pc:docMk/>
            <pc:sldMk cId="0" sldId="261"/>
            <ac:spMk id="15" creationId="{00000000-0000-0000-0000-000000000000}"/>
          </ac:spMkLst>
        </pc:spChg>
        <pc:spChg chg="mod">
          <ac:chgData name="rashmiroy2004@outlook.com" userId="9b262ceecccdb4c8" providerId="LiveId" clId="{9DE611EF-83A3-4266-B8CA-B23D7C9EA60E}" dt="2026-09-25T18:02:32.625" v="233" actId="1076"/>
          <ac:spMkLst>
            <pc:docMk/>
            <pc:sldMk cId="0" sldId="261"/>
            <ac:spMk id="20" creationId="{00000000-0000-0000-0000-000000000000}"/>
          </ac:spMkLst>
        </pc:spChg>
        <pc:spChg chg="mod">
          <ac:chgData name="rashmiroy2004@outlook.com" userId="9b262ceecccdb4c8" providerId="LiveId" clId="{9DE611EF-83A3-4266-B8CA-B23D7C9EA60E}" dt="2026-09-25T18:02:46.179" v="237" actId="1076"/>
          <ac:spMkLst>
            <pc:docMk/>
            <pc:sldMk cId="0" sldId="261"/>
            <ac:spMk id="25" creationId="{00000000-0000-0000-0000-000000000000}"/>
          </ac:spMkLst>
        </pc:spChg>
        <pc:spChg chg="mod">
          <ac:chgData name="rashmiroy2004@outlook.com" userId="9b262ceecccdb4c8" providerId="LiveId" clId="{9DE611EF-83A3-4266-B8CA-B23D7C9EA60E}" dt="2026-09-25T18:02:35.470" v="234" actId="1076"/>
          <ac:spMkLst>
            <pc:docMk/>
            <pc:sldMk cId="0" sldId="261"/>
            <ac:spMk id="32" creationId="{00000000-0000-0000-0000-000000000000}"/>
          </ac:spMkLst>
        </pc:spChg>
        <pc:spChg chg="mod">
          <ac:chgData name="rashmiroy2004@outlook.com" userId="9b262ceecccdb4c8" providerId="LiveId" clId="{9DE611EF-83A3-4266-B8CA-B23D7C9EA60E}" dt="2026-09-25T18:02:39.348" v="235" actId="1076"/>
          <ac:spMkLst>
            <pc:docMk/>
            <pc:sldMk cId="0" sldId="261"/>
            <ac:spMk id="35" creationId="{00000000-0000-0000-0000-000000000000}"/>
          </ac:spMkLst>
        </pc:spChg>
      </pc:sldChg>
      <pc:sldChg chg="del">
        <pc:chgData name="rashmiroy2004@outlook.com" userId="9b262ceecccdb4c8" providerId="LiveId" clId="{9DE611EF-83A3-4266-B8CA-B23D7C9EA60E}" dt="2026-09-25T18:01:59.859" v="230" actId="47"/>
        <pc:sldMkLst>
          <pc:docMk/>
          <pc:sldMk cId="0" sldId="268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Users (K)</c:v>
                </c:pt>
              </c:strCache>
            </c:strRef>
          </c:tx>
          <c:spPr>
            <a:solidFill>
              <a:srgbClr val="3B82F6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Month 1</c:v>
                </c:pt>
                <c:pt idx="1">
                  <c:v>Month 3</c:v>
                </c:pt>
                <c:pt idx="2">
                  <c:v>Month 6</c:v>
                </c:pt>
                <c:pt idx="3">
                  <c:v>Month 9</c:v>
                </c:pt>
                <c:pt idx="4">
                  <c:v>Month 12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8</c:v>
                </c:pt>
                <c:pt idx="2">
                  <c:v>18</c:v>
                </c:pt>
                <c:pt idx="3">
                  <c:v>32</c:v>
                </c:pt>
                <c:pt idx="4">
                  <c:v>50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482-4C43-9E4B-741076339C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832" y="0"/>
            <a:ext cx="12191695" cy="6858000"/>
          </a:xfrm>
          <a:prstGeom prst="rect">
            <a:avLst/>
          </a:prstGeom>
          <a:solidFill>
            <a:srgbClr val="1E3A5F">
              <a:lumMod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Oval 2"/>
          <p:cNvSpPr/>
          <p:nvPr/>
        </p:nvSpPr>
        <p:spPr>
          <a:xfrm>
            <a:off x="9144000" y="-914400"/>
            <a:ext cx="3657600" cy="3657600"/>
          </a:xfrm>
          <a:prstGeom prst="ellipse">
            <a:avLst/>
          </a:prstGeom>
          <a:solidFill>
            <a:srgbClr val="3B82F6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3B82F6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058400" y="5029200"/>
            <a:ext cx="2286000" cy="2286000"/>
          </a:xfrm>
          <a:prstGeom prst="ellipse">
            <a:avLst/>
          </a:prstGeom>
          <a:solidFill>
            <a:srgbClr val="3B82F6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</a:defRPr>
            </a:pPr>
            <a:r>
              <a:t>CareerPath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93C5FD"/>
                </a:solidFill>
              </a:defRPr>
            </a:pPr>
            <a:r>
              <a:t>AI-Powered Skill Gap Analysis &amp; Career Intelligence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83464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4400" y="3108960"/>
            <a:ext cx="5029200" cy="45720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93C5FD"/>
                </a:solidFill>
              </a:defRPr>
            </a:pPr>
            <a:r>
              <a:t>🏆  Problem: Intelligent Talent &amp; Workforce Ecosystem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4048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BFDBFE"/>
                </a:solidFill>
              </a:defRPr>
            </a:pPr>
            <a:r>
              <a:t>Build For Bharat 2.0  ·  September 25,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19" y="2750771"/>
            <a:ext cx="3840480" cy="3474720"/>
          </a:xfrm>
          <a:prstGeom prst="roundRect">
            <a:avLst/>
          </a:prstGeom>
          <a:solidFill>
            <a:srgbClr val="1E2D4A"/>
          </a:solidFill>
          <a:ln w="12700">
            <a:solidFill>
              <a:srgbClr val="33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7955279" y="28803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</a:defRPr>
            </a:pPr>
            <a:r>
              <a:t>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3200400"/>
            <a:ext cx="116839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lang="en-US" dirty="0"/>
              <a:t>code4sure</a:t>
            </a:r>
            <a:endParaRPr dirty="0"/>
          </a:p>
        </p:txBody>
      </p:sp>
      <p:sp>
        <p:nvSpPr>
          <p:cNvPr id="14" name="Oval 13"/>
          <p:cNvSpPr/>
          <p:nvPr/>
        </p:nvSpPr>
        <p:spPr>
          <a:xfrm>
            <a:off x="8092440" y="3858768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3776472"/>
            <a:ext cx="85311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rPr lang="en-US" dirty="0"/>
              <a:t>Prem Roy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8321040" y="3995928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3C5FD"/>
                </a:solidFill>
              </a:defRPr>
            </a:pPr>
            <a:r>
              <a:t>Full Stack Developer</a:t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4361688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0" y="4279392"/>
            <a:ext cx="1149674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rPr lang="en-US" dirty="0"/>
              <a:t>Aryan </a:t>
            </a:r>
            <a:r>
              <a:rPr lang="en-US" dirty="0" err="1"/>
              <a:t>Vishnoi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8312905" y="4536757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3C5FD"/>
                </a:solidFill>
              </a:defRPr>
            </a:pPr>
            <a:r>
              <a:t>ML / NLP Engineer</a:t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864608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71122" y="4773834"/>
            <a:ext cx="124950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rPr lang="en-US" dirty="0"/>
              <a:t>Vansh Chauhan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8312905" y="5029200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3C5FD"/>
                </a:solidFill>
              </a:defRPr>
            </a:pPr>
            <a:r>
              <a:rPr dirty="0"/>
              <a:t>UI / UX Designer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9794" y="5240889"/>
            <a:ext cx="1265090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3C5FD"/>
                </a:solidFill>
              </a:defRPr>
            </a:pPr>
            <a:r>
              <a:rPr lang="en-US" sz="1300" b="1" dirty="0">
                <a:solidFill>
                  <a:schemeClr val="bg1"/>
                </a:solidFill>
              </a:rPr>
              <a:t>Isha </a:t>
            </a:r>
            <a:r>
              <a:rPr lang="en-US" sz="1300" b="1" dirty="0" err="1">
                <a:solidFill>
                  <a:schemeClr val="bg1"/>
                </a:solidFill>
              </a:rPr>
              <a:t>Vishnoi</a:t>
            </a:r>
            <a:endParaRPr lang="en-US" sz="1300" b="1" dirty="0">
              <a:solidFill>
                <a:schemeClr val="bg1"/>
              </a:solidFill>
            </a:endParaRPr>
          </a:p>
          <a:p>
            <a:pPr>
              <a:defRPr sz="1000">
                <a:solidFill>
                  <a:srgbClr val="93C5FD"/>
                </a:solidFill>
              </a:defRPr>
            </a:pPr>
            <a:r>
              <a:rPr lang="en-US" sz="1000" dirty="0">
                <a:solidFill>
                  <a:schemeClr val="accent5"/>
                </a:solidFill>
              </a:rPr>
              <a:t>Full Stack Developer</a:t>
            </a:r>
            <a:endParaRPr sz="1000" dirty="0">
              <a:solidFill>
                <a:schemeClr val="accent5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167DDEF-D725-BD42-FBFC-0C19917B1FB6}"/>
              </a:ext>
            </a:extLst>
          </p:cNvPr>
          <p:cNvSpPr/>
          <p:nvPr/>
        </p:nvSpPr>
        <p:spPr>
          <a:xfrm>
            <a:off x="8097356" y="533164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200"/>
              </a:spcBef>
              <a:defRPr sz="1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47472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475569"/>
                </a:solidFill>
              </a:defRPr>
            </a:pPr>
            <a:r>
              <a:t>CareerPath AI  |  Build For Bharat 2.0  | 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2/13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22860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1.5M+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Engineering graduates</a:t>
            </a:r>
            <a:br/>
            <a:r>
              <a:t>per year in India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188720"/>
            <a:ext cx="22860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80" y="128016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EA580C"/>
                </a:solidFill>
              </a:defRPr>
            </a:pPr>
            <a:r>
              <a:t>60%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83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Remain unemployed or</a:t>
            </a:r>
            <a:br/>
            <a:r>
              <a:t>underemployed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0" y="1188720"/>
            <a:ext cx="22860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0" y="128016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3A8A"/>
                </a:solidFill>
              </a:defRPr>
            </a:pPr>
            <a:r>
              <a:t>#1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783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Reason: Skill mismatch</a:t>
            </a:r>
            <a:br/>
            <a:r>
              <a:t>with industry needs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606040"/>
            <a:ext cx="3291840" cy="1828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49808" y="2624328"/>
            <a:ext cx="3255264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2743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❓ Students Don't Know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063240"/>
            <a:ext cx="3017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475569"/>
                </a:solidFill>
              </a:defRPr>
            </a:pPr>
            <a:r>
              <a:t>Which roles match their current skills</a:t>
            </a:r>
          </a:p>
          <a:p>
            <a:pPr>
              <a:spcAft>
                <a:spcPts val="300"/>
              </a:spcAft>
              <a:defRPr sz="1000">
                <a:solidFill>
                  <a:srgbClr val="475569"/>
                </a:solidFill>
              </a:defRPr>
            </a:pPr>
            <a:r>
              <a:t>What critical skills they're missing</a:t>
            </a:r>
          </a:p>
          <a:p>
            <a:pPr>
              <a:spcAft>
                <a:spcPts val="300"/>
              </a:spcAft>
              <a:defRPr sz="1000">
                <a:solidFill>
                  <a:srgbClr val="475569"/>
                </a:solidFill>
              </a:defRPr>
            </a:pPr>
            <a:r>
              <a:t>How to close the gap effectively</a:t>
            </a:r>
          </a:p>
          <a:p>
            <a:pPr>
              <a:spcAft>
                <a:spcPts val="300"/>
              </a:spcAft>
              <a:defRPr sz="1000">
                <a:solidFill>
                  <a:srgbClr val="475569"/>
                </a:solidFill>
              </a:defRPr>
            </a:pPr>
            <a:r>
              <a:t>Where to start their career journey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2606040"/>
            <a:ext cx="3474720" cy="1828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15968" y="2624328"/>
            <a:ext cx="3438144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34840" y="2743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⚠️ Current Solutions Fall Short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063240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475569"/>
                </a:solidFill>
              </a:defRPr>
            </a:pPr>
            <a:r>
              <a:t>Internshala → Job listings, no skill assessment</a:t>
            </a:r>
          </a:p>
          <a:p>
            <a:pPr>
              <a:spcAft>
                <a:spcPts val="300"/>
              </a:spcAft>
              <a:defRPr sz="1000">
                <a:solidFill>
                  <a:srgbClr val="475569"/>
                </a:solidFill>
              </a:defRPr>
            </a:pPr>
            <a:r>
              <a:t>LinkedIn → Built for professionals, not students</a:t>
            </a:r>
          </a:p>
          <a:p>
            <a:pPr>
              <a:spcAft>
                <a:spcPts val="300"/>
              </a:spcAft>
              <a:defRPr sz="1000">
                <a:solidFill>
                  <a:srgbClr val="475569"/>
                </a:solidFill>
              </a:defRPr>
            </a:pPr>
            <a:r>
              <a:t>Coursera → Courses, but no personalized roadmap</a:t>
            </a:r>
          </a:p>
          <a:p>
            <a:pPr>
              <a:spcAft>
                <a:spcPts val="300"/>
              </a:spcAft>
              <a:defRPr sz="1000">
                <a:solidFill>
                  <a:srgbClr val="475569"/>
                </a:solidFill>
              </a:defRPr>
            </a:pPr>
            <a:r>
              <a:t>Naukri → Listings only, no guidance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2606040"/>
            <a:ext cx="3474720" cy="182880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0" y="274320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🔍 THE GAP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1089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No platform tells students:</a:t>
            </a:r>
          </a:p>
          <a:p>
            <a:pPr>
              <a:spcBef>
                <a:spcPts val="800"/>
              </a:spcBef>
              <a:defRPr sz="1200" b="1" i="1">
                <a:solidFill>
                  <a:srgbClr val="1E3A8A"/>
                </a:solidFill>
              </a:defRPr>
            </a:pPr>
            <a:r>
              <a:t>"You're ready for X role, but need to learn Y and Z first"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754880"/>
            <a:ext cx="31089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48463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48920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Wasted time applying</a:t>
            </a:r>
            <a:br/>
            <a:r>
              <a:t>to wrong roles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06240" y="4754880"/>
            <a:ext cx="31089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43400" y="48463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😞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48920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Lost confidence from</a:t>
            </a:r>
            <a:br/>
            <a:r>
              <a:t>repeated rejections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80960" y="4754880"/>
            <a:ext cx="31089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18120" y="48463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8920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Employers can't find</a:t>
            </a:r>
            <a:br/>
            <a:r>
              <a:t>ready-to-hire talent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200"/>
              </a:spcBef>
              <a:defRPr sz="1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47472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t>Our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475569"/>
                </a:solidFill>
              </a:defRPr>
            </a:pPr>
            <a:r>
              <a:t>CareerPath AI  |  Build For Bharat 2.0  | 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3/13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10698480" cy="73152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188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💡  "Upload your resume, get a skill gap analysis, and receive a week-by-week learning roadmap to become job-ready in your best-fit role."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48840"/>
            <a:ext cx="1920240" cy="1828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417320" y="228600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880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4612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Upload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204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Resume or</a:t>
            </a:r>
            <a:br/>
            <a:r>
              <a:t>enter skills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651760" y="2880360"/>
            <a:ext cx="320040" cy="22860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971800" y="2148840"/>
            <a:ext cx="1920240" cy="1828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657600" y="228600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880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324612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Extract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35204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AI identifies</a:t>
            </a:r>
            <a:br/>
            <a:r>
              <a:t>your skills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892040" y="2880360"/>
            <a:ext cx="320040" cy="22860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212080" y="2148840"/>
            <a:ext cx="1920240" cy="1828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897880" y="228600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2880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324612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Compare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5204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Match against</a:t>
            </a:r>
            <a:br/>
            <a:r>
              <a:t>7 roles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132320" y="2880360"/>
            <a:ext cx="320040" cy="22860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452360" y="2148840"/>
            <a:ext cx="1920240" cy="1828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138160" y="228600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2880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🗺️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324612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Roadmap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35204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4-week plan</a:t>
            </a:r>
            <a:br/>
            <a:r>
              <a:t>with courses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372600" y="2880360"/>
            <a:ext cx="320040" cy="22860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692640" y="2148840"/>
            <a:ext cx="1920240" cy="1828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378440" y="228600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87000" y="2880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324612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Export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35204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Download</a:t>
            </a:r>
            <a:br/>
            <a:r>
              <a:t>PDF report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4389120"/>
            <a:ext cx="34747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68680" y="44805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34440" y="449884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Skill Readiness First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49377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Not just job listings — we assess your readiness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80559" y="4389120"/>
            <a:ext cx="34747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617719" y="44805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🔍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83479" y="449884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Explainable AI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17719" y="49377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Full breakdown of why roles are recommended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29599" y="4389120"/>
            <a:ext cx="34747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366759" y="44805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19" y="449884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Privacy-First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59" y="49377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Session-only processing, DPDP Act 2023 compliant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200"/>
              </a:spcBef>
              <a:defRPr sz="1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47472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t>Target Users &amp; Market Opportunity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475569"/>
                </a:solidFill>
              </a:defRPr>
            </a:pPr>
            <a:r>
              <a:t>CareerPath AI  |  Build For Bharat 2.0  | 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4/13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32918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9808" y="1207008"/>
            <a:ext cx="3255264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68680" y="132588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Final-Year Students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488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475569"/>
                </a:solidFill>
              </a:defRPr>
            </a:pPr>
            <a:r>
              <a:t>B.Tech / B.E. (21-23 yrs)</a:t>
            </a:r>
          </a:p>
          <a:p>
            <a:pPr>
              <a:spcAft>
                <a:spcPts val="300"/>
              </a:spcAft>
              <a:defRPr sz="1000">
                <a:solidFill>
                  <a:srgbClr val="475569"/>
                </a:solidFill>
              </a:defRPr>
            </a:pPr>
            <a:r>
              <a:t>Placement pressure, need guidance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188720"/>
            <a:ext cx="32918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07408" y="1207008"/>
            <a:ext cx="3255264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26280" y="132588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Fresh Graduates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1488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475569"/>
                </a:solidFill>
              </a:defRPr>
            </a:pPr>
            <a:r>
              <a:t>0-1 years experience</a:t>
            </a:r>
          </a:p>
          <a:p>
            <a:pPr>
              <a:spcAft>
                <a:spcPts val="300"/>
              </a:spcAft>
              <a:defRPr sz="1000">
                <a:solidFill>
                  <a:srgbClr val="475569"/>
                </a:solidFill>
              </a:defRPr>
            </a:pPr>
            <a:r>
              <a:t>Skill-to-role confusion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188720"/>
            <a:ext cx="32918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65008" y="1207008"/>
            <a:ext cx="3255264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183880" y="1325880"/>
            <a:ext cx="411480" cy="41148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Career Switchers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21488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475569"/>
                </a:solidFill>
              </a:defRPr>
            </a:pPr>
            <a:r>
              <a:t>1-3 years, wanting to pivot</a:t>
            </a:r>
          </a:p>
          <a:p>
            <a:pPr>
              <a:spcAft>
                <a:spcPts val="300"/>
              </a:spcAft>
              <a:defRPr sz="1000">
                <a:solidFill>
                  <a:srgbClr val="475569"/>
                </a:solidFill>
              </a:defRPr>
            </a:pPr>
            <a:r>
              <a:t>Need structured upskilling path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200400"/>
            <a:ext cx="6858000" cy="5943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TAM:  1.5M  —  Engineering graduates / year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45920" y="3977640"/>
            <a:ext cx="5029200" cy="5943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SAM:  600K  —  Actively job-seeking students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60320" y="4754880"/>
            <a:ext cx="3200400" cy="59436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SOM:  50K  —  Year 1 target (college partners)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200400"/>
            <a:ext cx="3657600" cy="274320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0" y="329184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C3AED"/>
                </a:solidFill>
              </a:defRPr>
            </a:pPr>
            <a:r>
              <a:t>Why This Market?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749039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🔥  High pain intensity (placement pressure)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📱  Digital-native, willing to try new tools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🔗  Viral potential (peer recommendations)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🏫  College partnerships = instant scale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200"/>
              </a:spcBef>
              <a:defRPr sz="12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47472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t>Solution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475569"/>
                </a:solidFill>
              </a:defRPr>
            </a:pPr>
            <a:r>
              <a:t>CareerPath AI  |  Build For Bharat 2.0  | 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5/13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2011680" cy="10058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400"/>
              </a:spcBef>
              <a:defRPr sz="1600" b="1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097280"/>
            <a:ext cx="5029200" cy="10058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08960" y="1170432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▸  React.js + Vite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▸  TailwindCSS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▸  Recharts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1554480" y="2103120"/>
            <a:ext cx="274320" cy="228600"/>
          </a:xfrm>
          <a:prstGeom prst="down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2331720"/>
            <a:ext cx="2011680" cy="10058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400"/>
              </a:spcBef>
              <a:defRPr sz="1600" b="1">
                <a:solidFill>
                  <a:srgbClr val="FFFFFF"/>
                </a:solidFill>
              </a:defRPr>
            </a:pPr>
            <a:r>
              <a:t>Backend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2331720"/>
            <a:ext cx="5029200" cy="10058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08960" y="2404872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▸  FastAPI (Python)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▸  In-memory sessions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▸  JSON knowledge base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554480" y="3337560"/>
            <a:ext cx="274320" cy="228600"/>
          </a:xfrm>
          <a:prstGeom prst="down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31520" y="3566160"/>
            <a:ext cx="2011680" cy="10058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400"/>
              </a:spcBef>
              <a:defRPr sz="1600" b="1">
                <a:solidFill>
                  <a:srgbClr val="FFFFFF"/>
                </a:solidFill>
              </a:defRPr>
            </a:pPr>
            <a:r>
              <a:t>AI / ML Engine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0" y="3566160"/>
            <a:ext cx="5029200" cy="10058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108960" y="3639312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▸  Keyword skill extraction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▸  Fit score (70/30 weighting)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▸  Explainable recommendations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1554480" y="4572000"/>
            <a:ext cx="274320" cy="228600"/>
          </a:xfrm>
          <a:prstGeom prst="down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31520" y="4800600"/>
            <a:ext cx="2011680" cy="10058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400"/>
              </a:spcBef>
              <a:defRPr sz="1600" b="1">
                <a:solidFill>
                  <a:srgbClr val="FFFFFF"/>
                </a:solidFill>
              </a:defRPr>
            </a:pPr>
            <a:r>
              <a:t>Data Layer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26080" y="4800600"/>
            <a:ext cx="5029200" cy="10058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08960" y="4873752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▸  Role-skill catalog (7 roles, 80+ skills)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▸  Validated vs 23K Naukri postings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▸  ESCO-aligned · Free course DB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1097280"/>
            <a:ext cx="3291840" cy="493776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95360" y="123444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🚀 Deployment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16916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Frontend:  Vercel / Netlify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Backend:  Render / Railway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Database:  In-memory (demo)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APIs:  Self-contained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300"/>
              </a:spcAft>
              <a:defRPr sz="1100" b="1">
                <a:solidFill>
                  <a:srgbClr val="1E293B"/>
                </a:solidFill>
              </a:defRPr>
            </a:pPr>
            <a:r>
              <a:t>✅ Key Properties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  ▸ No external API deps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  ▸ Fully offline capable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  ▸ &lt; 5s response time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  ▸ 100 concurrent users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200"/>
              </a:spcBef>
              <a:defRPr sz="12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47472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t>Key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475569"/>
                </a:solidFill>
              </a:defRPr>
            </a:pPr>
            <a:r>
              <a:t>CareerPath AI  |  Build For Bharat 2.0  | 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6/13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51560"/>
            <a:ext cx="33832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9808" y="1069848"/>
            <a:ext cx="3346704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68680" y="118872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3619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rPr dirty="0"/>
              <a:t>Resume Parsing &amp;</a:t>
            </a:r>
            <a:br>
              <a:rPr dirty="0"/>
            </a:br>
            <a:r>
              <a:rPr dirty="0"/>
              <a:t>Skill Extraction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116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475569"/>
                </a:solidFill>
              </a:defRPr>
            </a:pPr>
            <a:r>
              <a:t>Upload PDF / DOCX</a:t>
            </a:r>
          </a:p>
          <a:p>
            <a:pPr>
              <a:spcAft>
                <a:spcPts val="300"/>
              </a:spcAft>
              <a:defRPr sz="1000">
                <a:solidFill>
                  <a:srgbClr val="475569"/>
                </a:solidFill>
              </a:defRPr>
            </a:pPr>
            <a:r>
              <a:t>Keyword-based extraction</a:t>
            </a:r>
          </a:p>
          <a:p>
            <a:pPr>
              <a:spcAft>
                <a:spcPts val="300"/>
              </a:spcAft>
              <a:defRPr sz="1000">
                <a:solidFill>
                  <a:srgbClr val="475569"/>
                </a:solidFill>
              </a:defRPr>
            </a:pPr>
            <a:r>
              <a:t>Manual edit fallback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051560"/>
            <a:ext cx="33832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98847" y="1069848"/>
            <a:ext cx="3346704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617719" y="118872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19" y="163677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rPr dirty="0"/>
              <a:t>Role Comparison &amp;</a:t>
            </a:r>
            <a:br>
              <a:rPr dirty="0"/>
            </a:br>
            <a:r>
              <a:rPr dirty="0"/>
              <a:t>Fit Scoring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19" y="20116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475569"/>
                </a:solidFill>
              </a:defRPr>
            </a:pPr>
            <a:r>
              <a:t>Compare against 7 roles</a:t>
            </a:r>
          </a:p>
          <a:p>
            <a:pPr>
              <a:spcAft>
                <a:spcPts val="300"/>
              </a:spcAft>
              <a:defRPr sz="1000">
                <a:solidFill>
                  <a:srgbClr val="475569"/>
                </a:solidFill>
              </a:defRPr>
            </a:pPr>
            <a:r>
              <a:t>Fit score with breakdown</a:t>
            </a:r>
          </a:p>
          <a:p>
            <a:pPr>
              <a:spcAft>
                <a:spcPts val="300"/>
              </a:spcAft>
              <a:defRPr sz="1000">
                <a:solidFill>
                  <a:srgbClr val="475569"/>
                </a:solidFill>
              </a:defRPr>
            </a:pPr>
            <a:r>
              <a:t>Explainable reasoning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599" y="1051560"/>
            <a:ext cx="33832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47887" y="1069848"/>
            <a:ext cx="3346704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366759" y="1188720"/>
            <a:ext cx="411480" cy="41148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🗺️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59" y="16230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rPr dirty="0"/>
              <a:t>Learning Roadmap</a:t>
            </a:r>
            <a:br>
              <a:rPr dirty="0"/>
            </a:br>
            <a:r>
              <a:rPr dirty="0"/>
              <a:t>Generator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59" y="20116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475569"/>
                </a:solidFill>
              </a:defRPr>
            </a:pPr>
            <a:r>
              <a:t>Week-by-week plan</a:t>
            </a:r>
          </a:p>
          <a:p>
            <a:pPr>
              <a:spcAft>
                <a:spcPts val="300"/>
              </a:spcAft>
              <a:defRPr sz="1000">
                <a:solidFill>
                  <a:srgbClr val="475569"/>
                </a:solidFill>
              </a:defRPr>
            </a:pPr>
            <a:r>
              <a:t>Free curated courses</a:t>
            </a:r>
          </a:p>
          <a:p>
            <a:pPr>
              <a:spcAft>
                <a:spcPts val="300"/>
              </a:spcAft>
              <a:defRPr sz="1000">
                <a:solidFill>
                  <a:srgbClr val="475569"/>
                </a:solidFill>
              </a:defRPr>
            </a:pPr>
            <a:r>
              <a:t>10-15 hrs/week estimate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657600"/>
            <a:ext cx="33832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49808" y="3675888"/>
            <a:ext cx="3346704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68680" y="3794760"/>
            <a:ext cx="411480" cy="41148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79" y="4187952"/>
            <a:ext cx="347471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rPr dirty="0"/>
              <a:t>Privacy-First</a:t>
            </a:r>
            <a:br>
              <a:rPr dirty="0"/>
            </a:br>
            <a:r>
              <a:rPr dirty="0"/>
              <a:t>Design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6177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475569"/>
                </a:solidFill>
              </a:defRPr>
            </a:pPr>
            <a:r>
              <a:t>Session-only processing</a:t>
            </a:r>
          </a:p>
          <a:p>
            <a:pPr>
              <a:spcAft>
                <a:spcPts val="300"/>
              </a:spcAft>
              <a:defRPr sz="1000">
                <a:solidFill>
                  <a:srgbClr val="475569"/>
                </a:solidFill>
              </a:defRPr>
            </a:pPr>
            <a:r>
              <a:t>DPDP Act 2023 compliant</a:t>
            </a:r>
          </a:p>
          <a:p>
            <a:pPr>
              <a:spcAft>
                <a:spcPts val="300"/>
              </a:spcAft>
              <a:defRPr sz="1000">
                <a:solidFill>
                  <a:srgbClr val="475569"/>
                </a:solidFill>
              </a:defRPr>
            </a:pPr>
            <a:r>
              <a:t>One-click data delete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59" y="3657600"/>
            <a:ext cx="33832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498847" y="3675888"/>
            <a:ext cx="3346704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617719" y="3794760"/>
            <a:ext cx="411480" cy="41148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19" y="4297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Printable Reports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19" y="46177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475569"/>
                </a:solidFill>
              </a:defRPr>
            </a:pPr>
            <a:r>
              <a:t>PDF / HTML export</a:t>
            </a:r>
          </a:p>
          <a:p>
            <a:pPr>
              <a:spcAft>
                <a:spcPts val="300"/>
              </a:spcAft>
              <a:defRPr sz="1000">
                <a:solidFill>
                  <a:srgbClr val="475569"/>
                </a:solidFill>
              </a:defRPr>
            </a:pPr>
            <a:r>
              <a:t>Shareable with mentors</a:t>
            </a:r>
          </a:p>
          <a:p>
            <a:pPr>
              <a:spcAft>
                <a:spcPts val="300"/>
              </a:spcAft>
              <a:defRPr sz="1000">
                <a:solidFill>
                  <a:srgbClr val="475569"/>
                </a:solidFill>
              </a:defRPr>
            </a:pPr>
            <a:r>
              <a:t>Professional formatting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599" y="3562817"/>
            <a:ext cx="33832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247887" y="3675888"/>
            <a:ext cx="3346704" cy="54864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366759" y="3794760"/>
            <a:ext cx="411480" cy="411480"/>
          </a:xfrm>
          <a:prstGeom prst="ellipse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59" y="424114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rPr dirty="0"/>
              <a:t>Mock Job</a:t>
            </a:r>
            <a:br>
              <a:rPr dirty="0"/>
            </a:br>
            <a:r>
              <a:rPr dirty="0"/>
              <a:t>Listings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59" y="46177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475569"/>
                </a:solidFill>
              </a:defRPr>
            </a:pPr>
            <a:r>
              <a:t>Realistic demo data</a:t>
            </a:r>
          </a:p>
          <a:p>
            <a:pPr>
              <a:spcAft>
                <a:spcPts val="300"/>
              </a:spcAft>
              <a:defRPr sz="1000">
                <a:solidFill>
                  <a:srgbClr val="475569"/>
                </a:solidFill>
              </a:defRPr>
            </a:pPr>
            <a:r>
              <a:t>Naukri-style cards</a:t>
            </a:r>
          </a:p>
          <a:p>
            <a:pPr>
              <a:spcAft>
                <a:spcPts val="300"/>
              </a:spcAft>
              <a:defRPr sz="1000">
                <a:solidFill>
                  <a:srgbClr val="475569"/>
                </a:solidFill>
              </a:defRPr>
            </a:pPr>
            <a:r>
              <a:t>API integration planned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200"/>
              </a:spcBef>
              <a:defRPr sz="12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47472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t>AI / ML Approach &amp; Algorithms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475569"/>
                </a:solidFill>
              </a:defRPr>
            </a:pPr>
            <a:r>
              <a:t>CareerPath AI  |  Build For Bharat 2.0  | 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7/13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9808" y="1115568"/>
            <a:ext cx="5266944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234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🤖 Skill Extraction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54480"/>
            <a:ext cx="50292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475569"/>
                </a:solidFill>
              </a:defRPr>
            </a:pPr>
            <a:r>
              <a:t>1. Resume text extraction (PyPDF2 / pdfplumber)</a:t>
            </a:r>
          </a:p>
          <a:p>
            <a:pPr>
              <a:spcAft>
                <a:spcPts val="300"/>
              </a:spcAft>
              <a:defRPr sz="1000">
                <a:solidFill>
                  <a:srgbClr val="475569"/>
                </a:solidFill>
              </a:defRPr>
            </a:pPr>
            <a:r>
              <a:t>2. Keyword matching against 80+ skill dictionary</a:t>
            </a:r>
          </a:p>
          <a:p>
            <a:pPr>
              <a:spcAft>
                <a:spcPts val="300"/>
              </a:spcAft>
              <a:defRPr sz="1000">
                <a:solidFill>
                  <a:srgbClr val="475569"/>
                </a:solidFill>
              </a:defRPr>
            </a:pPr>
            <a:r>
              <a:t>3. Normalize to canonical skill IDs</a:t>
            </a:r>
          </a:p>
          <a:p>
            <a:pPr>
              <a:spcAft>
                <a:spcPts val="300"/>
              </a:spcAft>
              <a:defRPr sz="1000">
                <a:solidFill>
                  <a:srgbClr val="475569"/>
                </a:solidFill>
              </a:defRPr>
            </a:pPr>
            <a:r>
              <a:t>4. Confidence scoring + user edit capability</a:t>
            </a:r>
          </a:p>
          <a:p>
            <a:pPr>
              <a:spcAft>
                <a:spcPts val="300"/>
              </a:spcAft>
              <a:defRPr sz="1000">
                <a:solidFill>
                  <a:srgbClr val="475569"/>
                </a:solidFill>
              </a:defRPr>
            </a:pPr>
            <a:r>
              <a:t>5. Fallback: Manual skill entry or quiz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097280"/>
            <a:ext cx="5303520" cy="210312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23444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7C3AED"/>
                </a:solidFill>
              </a:defRPr>
            </a:pPr>
            <a:r>
              <a:t>📐 Fit Score Calculation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64592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</a:defRPr>
            </a:pPr>
            <a:r>
              <a:t>Essential Coverage = |User Skills ∩ Essential| / |Essential|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</a:defRPr>
            </a:pPr>
            <a:r>
              <a:t>Optional Coverage = |User Skills ∩ Optional| / |Optional|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200"/>
              </a:spcAft>
              <a:defRPr sz="1100" b="1">
                <a:solidFill>
                  <a:srgbClr val="7C3AED"/>
                </a:solidFill>
              </a:defRPr>
            </a:pPr>
            <a:r>
              <a:t>FitScore = 0.7 × EssentialCoverage + 0.3 × OptionalCoverage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</a:defRPr>
            </a:pPr>
            <a:r>
              <a:t>Gap = Essential \ User Skills  (prioritized missing list)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2044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9808" y="3538728"/>
            <a:ext cx="5266944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657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🎯 Career Recommendation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77640"/>
            <a:ext cx="50292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475569"/>
                </a:solidFill>
              </a:defRPr>
            </a:pPr>
            <a:r>
              <a:t>Hybrid Approach:</a:t>
            </a:r>
          </a:p>
          <a:p>
            <a:pPr>
              <a:spcAft>
                <a:spcPts val="300"/>
              </a:spcAft>
              <a:defRPr sz="1000">
                <a:solidFill>
                  <a:srgbClr val="475569"/>
                </a:solidFill>
              </a:defRPr>
            </a:pPr>
            <a:r>
              <a:t>▸ Content-based: Semantic similarity (user ↔ role)</a:t>
            </a:r>
          </a:p>
          <a:p>
            <a:pPr>
              <a:spcAft>
                <a:spcPts val="300"/>
              </a:spcAft>
              <a:defRPr sz="1000">
                <a:solidFill>
                  <a:srgbClr val="475569"/>
                </a:solidFill>
              </a:defRPr>
            </a:pPr>
            <a:r>
              <a:t>▸ Rule-based: Boost by education &amp; experience</a:t>
            </a:r>
          </a:p>
          <a:p>
            <a:pPr>
              <a:spcAft>
                <a:spcPts val="300"/>
              </a:spcAft>
              <a:defRPr sz="1000">
                <a:solidFill>
                  <a:srgbClr val="475569"/>
                </a:solidFill>
              </a:defRPr>
            </a:pPr>
            <a:r>
              <a:t>▸ RoleScore = α×Similarity + β×FitScore + γ×Boost</a:t>
            </a:r>
          </a:p>
          <a:p>
            <a:pPr>
              <a:spcAft>
                <a:spcPts val="300"/>
              </a:spcAft>
              <a:defRPr sz="1000">
                <a:solidFill>
                  <a:srgbClr val="475569"/>
                </a:solidFill>
              </a:defRPr>
            </a:pPr>
            <a:r>
              <a:t>▸ Rank top 5 roles with full explanations</a:t>
            </a:r>
          </a:p>
          <a:p>
            <a:pPr>
              <a:spcAft>
                <a:spcPts val="300"/>
              </a:spcAft>
              <a:defRPr sz="1000">
                <a:solidFill>
                  <a:srgbClr val="475569"/>
                </a:solidFill>
              </a:defRPr>
            </a:pPr>
            <a:r>
              <a:t>▸ Show: matched skills, missing skills, why recommended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52044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19088" y="3538728"/>
            <a:ext cx="5266944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60" y="3657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🗺️ Roadmap Generation Logic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977640"/>
            <a:ext cx="50292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475569"/>
                </a:solidFill>
              </a:defRPr>
            </a:pPr>
            <a:r>
              <a:t>For each missing skill:</a:t>
            </a:r>
          </a:p>
          <a:p>
            <a:pPr>
              <a:spcAft>
                <a:spcPts val="300"/>
              </a:spcAft>
              <a:defRPr sz="1000">
                <a:solidFill>
                  <a:srgbClr val="475569"/>
                </a:solidFill>
              </a:defRPr>
            </a:pPr>
            <a:r>
              <a:t>▸ Query curated course database (skill → course)</a:t>
            </a:r>
          </a:p>
          <a:p>
            <a:pPr>
              <a:spcAft>
                <a:spcPts val="300"/>
              </a:spcAft>
              <a:defRPr sz="1000">
                <a:solidFill>
                  <a:srgbClr val="475569"/>
                </a:solidFill>
              </a:defRPr>
            </a:pPr>
            <a:r>
              <a:t>▸ Prioritize free, short-duration resources</a:t>
            </a:r>
          </a:p>
          <a:p>
            <a:pPr>
              <a:spcAft>
                <a:spcPts val="300"/>
              </a:spcAft>
              <a:defRPr sz="1000">
                <a:solidFill>
                  <a:srgbClr val="475569"/>
                </a:solidFill>
              </a:defRPr>
            </a:pPr>
            <a:r>
              <a:t>▸ Include project-based learning milestones</a:t>
            </a:r>
          </a:p>
          <a:p>
            <a:pPr>
              <a:spcAft>
                <a:spcPts val="300"/>
              </a:spcAft>
              <a:defRPr sz="1000">
                <a:solidFill>
                  <a:srgbClr val="475569"/>
                </a:solidFill>
              </a:defRPr>
            </a:pPr>
            <a:r>
              <a:t>▸ Output: Week 1 → Skill A, Week 2 → Skill B...</a:t>
            </a:r>
          </a:p>
          <a:p>
            <a:pPr>
              <a:spcAft>
                <a:spcPts val="300"/>
              </a:spcAft>
              <a:defRPr sz="1000">
                <a:solidFill>
                  <a:srgbClr val="475569"/>
                </a:solidFill>
              </a:defRPr>
            </a:pPr>
            <a:r>
              <a:t>▸ Sources: Coursera, Udemy, YouTube, NPTEL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200"/>
              </a:spcBef>
              <a:defRPr sz="12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47472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t>System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475569"/>
                </a:solidFill>
              </a:defRPr>
            </a:pPr>
            <a:r>
              <a:t>CareerPath AI  |  Build For Bharat 2.0  | 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8/13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645920" cy="1463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554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📤 Upload Resume</a:t>
            </a:r>
            <a:br/>
            <a:r>
              <a:t>or Enter Skills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03120" y="1737360"/>
            <a:ext cx="274320" cy="18288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377440" y="1188720"/>
            <a:ext cx="1645920" cy="14630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377440" y="128016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PARSER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1554480"/>
            <a:ext cx="1554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📝 Text Extraction</a:t>
            </a:r>
            <a:br/>
            <a:r>
              <a:t>(PDF/DOCX)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23360" y="1737360"/>
            <a:ext cx="274320" cy="18288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297680" y="1188720"/>
            <a:ext cx="1645920" cy="14630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97680" y="128016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NLP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1554480"/>
            <a:ext cx="1554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🔍 Skill Extraction</a:t>
            </a:r>
            <a:br/>
            <a:r>
              <a:t>&amp; Normalization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43600" y="1737360"/>
            <a:ext cx="274320" cy="18288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217920" y="1188720"/>
            <a:ext cx="1645920" cy="14630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0" y="128016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1554480"/>
            <a:ext cx="1554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⚙️ Gap Analysis</a:t>
            </a:r>
            <a:br/>
            <a:r>
              <a:t>&amp; Fit Scoring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863840" y="1737360"/>
            <a:ext cx="274320" cy="18288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138160" y="1188720"/>
            <a:ext cx="1645920" cy="14630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38160" y="128016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1554480"/>
            <a:ext cx="1554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🎯 Career</a:t>
            </a:r>
            <a:br/>
            <a:r>
              <a:t>Recommendations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784080" y="1737360"/>
            <a:ext cx="274320" cy="18288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058400" y="1188720"/>
            <a:ext cx="1645920" cy="14630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58400" y="128016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20" y="1554480"/>
            <a:ext cx="1554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🗺️ Learning</a:t>
            </a:r>
            <a:br/>
            <a:r>
              <a:t>Roadmap + 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2926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Detailed API Flow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3337560"/>
            <a:ext cx="10515600" cy="36576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3383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Method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338328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Endpoint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3383280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Description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3749039"/>
            <a:ext cx="10515600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22960" y="3785615"/>
            <a:ext cx="731520" cy="25603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POST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3767327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293B"/>
                </a:solidFill>
              </a:defRPr>
            </a:pPr>
            <a:r>
              <a:t>/api/resume/upload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3767327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Upload &amp; parse resume file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4096511"/>
            <a:ext cx="10515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822960" y="4133087"/>
            <a:ext cx="731520" cy="25603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GET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4114799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293B"/>
                </a:solidFill>
              </a:defRPr>
            </a:pPr>
            <a:r>
              <a:t>/api/resume/parse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4114799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Return extracted skills &amp; profile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4443983"/>
            <a:ext cx="10515600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822960" y="4480559"/>
            <a:ext cx="731520" cy="25603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GET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0" y="4462271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293B"/>
                </a:solidFill>
              </a:defRPr>
            </a:pPr>
            <a:r>
              <a:t>/api/roles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0640" y="4462271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List available target roles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4791455"/>
            <a:ext cx="10515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22960" y="4828031"/>
            <a:ext cx="731520" cy="25603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POST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28800" y="4809743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293B"/>
                </a:solidFill>
              </a:defRPr>
            </a:pPr>
            <a:r>
              <a:t>/api/analysis/gap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20640" y="4809743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Compute skill gap for user + role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5138927"/>
            <a:ext cx="10515600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822960" y="5175503"/>
            <a:ext cx="731520" cy="25603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POST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28800" y="5157215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293B"/>
                </a:solidFill>
              </a:defRPr>
            </a:pPr>
            <a:r>
              <a:t>/api/recommendations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20640" y="5157215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Get top recommended roles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1520" y="5486399"/>
            <a:ext cx="10515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22960" y="5522975"/>
            <a:ext cx="731520" cy="25603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POST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28800" y="5504687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293B"/>
                </a:solidFill>
              </a:defRPr>
            </a:pPr>
            <a:r>
              <a:t>/api/roadmap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20640" y="5504687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Generate learning roadmap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5833871"/>
            <a:ext cx="10515600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822960" y="5870447"/>
            <a:ext cx="731520" cy="25603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GET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0" y="5852159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293B"/>
                </a:solidFill>
              </a:defRPr>
            </a:pPr>
            <a:r>
              <a:t>/api/report/:userId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120640" y="5852159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Download PDF/CSV report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200"/>
              </a:spcBef>
              <a:defRPr sz="12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47472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t>Innovation &amp; Competitive 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475569"/>
                </a:solidFill>
              </a:defRPr>
            </a:pPr>
            <a:r>
              <a:t>CareerPath AI  |  Build For Bharat 2.0  | 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9/13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2286000" cy="4572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Feature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3240" y="1097280"/>
            <a:ext cx="219456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CareerPath AI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097280"/>
            <a:ext cx="1828800" cy="457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Internshala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78040" y="1097280"/>
            <a:ext cx="1828800" cy="4572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LinkedIn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52560" y="1097280"/>
            <a:ext cx="1828800" cy="457200"/>
          </a:xfrm>
          <a:prstGeom prst="rect">
            <a:avLst/>
          </a:prstGeom>
          <a:solidFill>
            <a:srgbClr val="005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Coursera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645920"/>
            <a:ext cx="228600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t>Skill Gap Analysis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3240" y="1645920"/>
            <a:ext cx="2194560" cy="402336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1E293B"/>
                </a:solidFill>
              </a:defRPr>
            </a:pPr>
            <a:r>
              <a:t>✅ Core Feature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1645920"/>
            <a:ext cx="182880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1E293B"/>
                </a:solidFill>
              </a:defRPr>
            </a:pPr>
            <a:r>
              <a:t>❌ No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8040" y="1645920"/>
            <a:ext cx="182880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1E293B"/>
                </a:solidFill>
              </a:defRPr>
            </a:pPr>
            <a:r>
              <a:t>❌ No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1645920"/>
            <a:ext cx="182880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1E293B"/>
                </a:solidFill>
              </a:defRPr>
            </a:pPr>
            <a:r>
              <a:t>❌ 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084832"/>
            <a:ext cx="22860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t>Explainable AI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63240" y="2084832"/>
            <a:ext cx="2194560" cy="402336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1E293B"/>
                </a:solidFill>
              </a:defRPr>
            </a:pPr>
            <a:r>
              <a:t>✅ Full Breakdown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0" y="2084832"/>
            <a:ext cx="1828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1E293B"/>
                </a:solidFill>
              </a:defRPr>
            </a:pPr>
            <a:r>
              <a:t>❌ Black Box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78040" y="2084832"/>
            <a:ext cx="1828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1E293B"/>
                </a:solidFill>
              </a:defRPr>
            </a:pPr>
            <a:r>
              <a:t>❌ Black Box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2084832"/>
            <a:ext cx="1828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1E293B"/>
                </a:solidFill>
              </a:defRPr>
            </a:pPr>
            <a:r>
              <a:t>❌ N/A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523744"/>
            <a:ext cx="228600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t>DPDP Compliant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63240" y="2523744"/>
            <a:ext cx="2194560" cy="402336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1E293B"/>
                </a:solidFill>
              </a:defRPr>
            </a:pPr>
            <a:r>
              <a:t>✅ Session-Only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0" y="2523744"/>
            <a:ext cx="182880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1E293B"/>
                </a:solidFill>
              </a:defRPr>
            </a:pPr>
            <a:r>
              <a:t>❌ Stores All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78040" y="2523744"/>
            <a:ext cx="182880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1E293B"/>
                </a:solidFill>
              </a:defRPr>
            </a:pPr>
            <a:r>
              <a:t>❌ Stores All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52560" y="2523744"/>
            <a:ext cx="182880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1E293B"/>
                </a:solidFill>
              </a:defRPr>
            </a:pPr>
            <a:r>
              <a:t>❌ Stores All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2962656"/>
            <a:ext cx="22860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t>India-Localized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63240" y="2962656"/>
            <a:ext cx="2194560" cy="402336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1E293B"/>
                </a:solidFill>
              </a:defRPr>
            </a:pPr>
            <a:r>
              <a:t>✅ Built for India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0" y="2962656"/>
            <a:ext cx="1828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1E293B"/>
                </a:solidFill>
              </a:defRPr>
            </a:pPr>
            <a:r>
              <a:t>✅ India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78040" y="2962656"/>
            <a:ext cx="1828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1E293B"/>
                </a:solidFill>
              </a:defRPr>
            </a:pPr>
            <a:r>
              <a:t>❌ Global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52560" y="2962656"/>
            <a:ext cx="1828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1E293B"/>
                </a:solidFill>
              </a:defRPr>
            </a:pPr>
            <a:r>
              <a:t>❌ Global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3401568"/>
            <a:ext cx="228600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t>Free for Students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63240" y="3401568"/>
            <a:ext cx="2194560" cy="402336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1E293B"/>
                </a:solidFill>
              </a:defRPr>
            </a:pPr>
            <a:r>
              <a:t>✅ Core Free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03520" y="3401568"/>
            <a:ext cx="182880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1E293B"/>
                </a:solidFill>
              </a:defRPr>
            </a:pPr>
            <a:r>
              <a:t>❌ Paid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78040" y="3401568"/>
            <a:ext cx="182880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1E293B"/>
                </a:solidFill>
              </a:defRPr>
            </a:pPr>
            <a:r>
              <a:t>❌ Premium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52560" y="3401568"/>
            <a:ext cx="182880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1E293B"/>
                </a:solidFill>
              </a:defRPr>
            </a:pPr>
            <a:r>
              <a:t>❌ Paid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3840480"/>
            <a:ext cx="22860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t>Learning Roadmap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63240" y="3840480"/>
            <a:ext cx="2194560" cy="402336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1E293B"/>
                </a:solidFill>
              </a:defRPr>
            </a:pPr>
            <a:r>
              <a:t>✅ Week-by-Week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03520" y="3840480"/>
            <a:ext cx="1828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1E293B"/>
                </a:solidFill>
              </a:defRPr>
            </a:pPr>
            <a:r>
              <a:t>❌ Course List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78040" y="3840480"/>
            <a:ext cx="1828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1E293B"/>
                </a:solidFill>
              </a:defRPr>
            </a:pPr>
            <a:r>
              <a:t>❌ No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52560" y="3840480"/>
            <a:ext cx="1828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1E293B"/>
                </a:solidFill>
              </a:defRPr>
            </a:pPr>
            <a:r>
              <a:t>❌ Course List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4279392"/>
            <a:ext cx="228600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t>Career Readiness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63240" y="4279392"/>
            <a:ext cx="2194560" cy="402336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1E293B"/>
                </a:solidFill>
              </a:defRPr>
            </a:pPr>
            <a:r>
              <a:t>✅ Score + Path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03520" y="4279392"/>
            <a:ext cx="182880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1E293B"/>
                </a:solidFill>
              </a:defRPr>
            </a:pPr>
            <a:r>
              <a:t>❌ No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78040" y="4279392"/>
            <a:ext cx="182880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1E293B"/>
                </a:solidFill>
              </a:defRPr>
            </a:pPr>
            <a:r>
              <a:t>❌ No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52560" y="4279392"/>
            <a:ext cx="1828800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1E293B"/>
                </a:solidFill>
              </a:defRPr>
            </a:pPr>
            <a:r>
              <a:t>❌ No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286000" y="5120640"/>
            <a:ext cx="7589520" cy="82296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468880" y="5166360"/>
            <a:ext cx="7223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🏆 Unique Value Proposition</a:t>
            </a:r>
          </a:p>
          <a:p>
            <a:pPr algn="ctr">
              <a:defRPr sz="1800" b="1" i="1">
                <a:solidFill>
                  <a:srgbClr val="1E3A8A"/>
                </a:solidFill>
              </a:defRPr>
            </a:pPr>
            <a:r>
              <a:t>"We don't just list jobs. We make you job-ready first."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200"/>
              </a:spcBef>
              <a:defRPr sz="12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47472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t>Impact &amp; Projected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475569"/>
                </a:solidFill>
              </a:defRPr>
            </a:pPr>
            <a:r>
              <a:t>CareerPath AI  |  Build For Bharat 2.0  | 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10/13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2560320" cy="14630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23444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</a:defRPr>
            </a:pPr>
            <a:r>
              <a:t>50,000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475569"/>
                </a:solidFill>
              </a:defRPr>
            </a:pPr>
            <a:r>
              <a:t>Students Served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097280"/>
            <a:ext cx="2560320" cy="14630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0" y="123444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59669"/>
                </a:solidFill>
              </a:defRPr>
            </a:pPr>
            <a:r>
              <a:t>60%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7830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475569"/>
                </a:solidFill>
              </a:defRPr>
            </a:pPr>
            <a:r>
              <a:t>Report Increased</a:t>
            </a:r>
            <a:br/>
            <a:r>
              <a:t>Career Confidence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097280"/>
            <a:ext cx="2560320" cy="14630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123444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7C3AED"/>
                </a:solidFill>
              </a:defRPr>
            </a:pPr>
            <a:r>
              <a:t>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7830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475569"/>
                </a:solidFill>
              </a:defRPr>
            </a:pPr>
            <a:r>
              <a:t>Complete Learning</a:t>
            </a:r>
            <a:br/>
            <a:r>
              <a:t>Roadmap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097280"/>
            <a:ext cx="2560320" cy="14630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0" y="123444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EA580C"/>
                </a:solidFill>
              </a:defRPr>
            </a:pPr>
            <a:r>
              <a:t>25%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17830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475569"/>
                </a:solidFill>
              </a:defRPr>
            </a:pPr>
            <a:r>
              <a:t>Improved Interview</a:t>
            </a:r>
            <a:br/>
            <a:r>
              <a:t>Conversion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834640"/>
            <a:ext cx="5486400" cy="2560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292608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🌍 Social 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33756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🎯  Democratizes career guidance — free for all students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⚖️  Reduces skill mismatch in Indian job market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🏫  Helps Tier-2/3 college students compete with Tier-1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📈  Aligns education outcomes with industry demand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2834640"/>
            <a:ext cx="5120640" cy="25603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66560" y="292608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📈 Scalability Roadmap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3375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▸  Add 100+ roles (currently 7)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▸  Integrate real job APIs (Naukri, LinkedIn)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▸  Partner with 100+ colleges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▸  Expand to regional languages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▸  Mobile app for wider reach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731520" y="5532120"/>
          <a:ext cx="5029200" cy="77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200"/>
              </a:spcBef>
              <a:defRPr sz="12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47472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t>Challenges &amp; Key Learnings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475569"/>
                </a:solidFill>
              </a:defRPr>
            </a:pPr>
            <a:r>
              <a:t>CareerPath AI  |  Build For Bharat 2.0  | 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11/13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6400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170432"/>
            <a:ext cx="6035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⚠️  Resume Parsing Edge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C2626"/>
                </a:solidFill>
              </a:defRPr>
            </a:pPr>
            <a:r>
              <a:t>Problem: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Scanned PDFs, complex layouts, non-standard formats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15087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Solution: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Manual entry fallback + clear error messages + format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51760"/>
            <a:ext cx="6400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724912"/>
            <a:ext cx="6035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🎯  Skill Extraction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632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C2626"/>
                </a:solidFill>
              </a:defRPr>
            </a:pPr>
            <a:r>
              <a:t>Problem: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Keyword matching misses context and synonyms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0632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Solution: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Confidence scoring + user edit capability + synonym dictionary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06240"/>
            <a:ext cx="6400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279392"/>
            <a:ext cx="6035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⏰  Hackathon Time Constraints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177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C2626"/>
                </a:solidFill>
              </a:defRPr>
            </a:pPr>
            <a:r>
              <a:t>Problem: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48 hours for full-stack development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46177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Solution: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Prioritized core journey, mocked non-essential features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1097280"/>
            <a:ext cx="4206240" cy="457200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80960" y="12344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C3AED"/>
                </a:solidFill>
              </a:defRPr>
            </a:pPr>
            <a:r>
              <a:t>💡 Key Learnings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173736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🔒  Privacy-first design builds user trust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🔍  Explainability &gt; Accuracy for user adoption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🇮🇳  India-localization is a competitive advantage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🎯  Core journey first, polish later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👥  User feedback loops are essential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📊  Simple algorithms with good data beat complex ML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200"/>
              </a:spcBef>
              <a:defRPr sz="12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47472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t>Future Roadmap &amp; Monetization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475569"/>
                </a:solidFill>
              </a:defRPr>
            </a:pPr>
            <a:r>
              <a:t>CareerPath AI  |  Build For Bharat 2.0  | 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12/13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3383280" cy="5943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124712"/>
            <a:ext cx="1371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1430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Post-Hackathon</a:t>
            </a:r>
            <a:br/>
            <a:r>
              <a:t>(3 months)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2880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96596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▸  Add 20+ more roles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▸  Integrate Naukri / LinkedIn APIs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▸  Email progress notifications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▸  User feedback &amp; analytics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097280"/>
            <a:ext cx="3383280" cy="5943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19" y="1124712"/>
            <a:ext cx="1371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39" y="11430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Growth</a:t>
            </a:r>
            <a:br/>
            <a:r>
              <a:t>(6 months)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59" y="182880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17719" y="196596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▸  Mobile app (React Native)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▸  College placement dashboard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▸  Premium features launch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▸  1-on-1 career coaching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599" y="1097280"/>
            <a:ext cx="3383280" cy="59436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66759" y="1124712"/>
            <a:ext cx="1371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Phase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79" y="11430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Scale</a:t>
            </a:r>
            <a:br/>
            <a:r>
              <a:t>(12 months)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599" y="182880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66759" y="196596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▸  AI chatbot (RAG-based Q&amp;A)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▸  Employer talent dashboard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▸  Expand to 5 countries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▸  Regional language support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206240"/>
            <a:ext cx="10698480" cy="1828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2976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💰 Monetization 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75488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🆓  Freemium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0749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Core features free forever for students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475488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⭐  Premium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50749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₹299/month — Advanced analytics, priority 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75488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🏢  B2B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50749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₹50,000/year per college — Placement cell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1534</Words>
  <Application>Microsoft Office PowerPoint</Application>
  <PresentationFormat>Widescreen</PresentationFormat>
  <Paragraphs>363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rashmiroy2004@outlook.com</cp:lastModifiedBy>
  <cp:revision>1</cp:revision>
  <dcterms:created xsi:type="dcterms:W3CDTF">2013-01-27T09:14:16Z</dcterms:created>
  <dcterms:modified xsi:type="dcterms:W3CDTF">2026-09-25T18:02:52Z</dcterms:modified>
  <cp:category/>
</cp:coreProperties>
</file>